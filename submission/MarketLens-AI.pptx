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d29877eb14225" /><Relationship Type="http://schemas.openxmlformats.org/officeDocument/2006/relationships/extended-properties" Target="/docProps/app.xml" Id="R861ee6a650c54288" /><Relationship Type="http://schemas.openxmlformats.org/officeDocument/2006/relationships/officeDocument" Target="/ppt/presentation.xml" Id="R07139310e70a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e72d41ec28466a"/>
  </p:sldMasterIdLst>
  <p:notesMasterIdLst>
    <p:notesMasterId xmlns:r="http://schemas.openxmlformats.org/officeDocument/2006/relationships" r:id="R8575e5d1d28c4728"/>
  </p:notesMasterIdLst>
  <p:sldIdLst>
    <p:sldId xmlns:r="http://schemas.openxmlformats.org/officeDocument/2006/relationships" id="256" r:id="R0e723cec137b4831"/>
    <p:sldId xmlns:r="http://schemas.openxmlformats.org/officeDocument/2006/relationships" id="257" r:id="R390c36c1d1744016"/>
    <p:sldId xmlns:r="http://schemas.openxmlformats.org/officeDocument/2006/relationships" id="258" r:id="Re21993ed44214554"/>
    <p:sldId xmlns:r="http://schemas.openxmlformats.org/officeDocument/2006/relationships" id="259" r:id="R7a2338acfa74433e"/>
    <p:sldId xmlns:r="http://schemas.openxmlformats.org/officeDocument/2006/relationships" id="260" r:id="Rfd5f394c992f4e39"/>
    <p:sldId xmlns:r="http://schemas.openxmlformats.org/officeDocument/2006/relationships" id="261" r:id="R17c140a8155b4568"/>
    <p:sldId xmlns:r="http://schemas.openxmlformats.org/officeDocument/2006/relationships" id="262" r:id="Re390bce53cba4f3b"/>
    <p:sldId xmlns:r="http://schemas.openxmlformats.org/officeDocument/2006/relationships" id="263" r:id="Rb797b471f8e54e70"/>
    <p:sldId xmlns:r="http://schemas.openxmlformats.org/officeDocument/2006/relationships" id="264" r:id="R38da1fe8c4ea4d9a"/>
    <p:sldId xmlns:r="http://schemas.openxmlformats.org/officeDocument/2006/relationships" id="265" r:id="Rc33bea73e1f44319"/>
    <p:sldId xmlns:r="http://schemas.openxmlformats.org/officeDocument/2006/relationships" id="266" r:id="R717f81c484c542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d5acc3af1422e" /><Relationship Type="http://schemas.openxmlformats.org/officeDocument/2006/relationships/slideMaster" Target="/ppt/slideMasters/slideMaster1.xml" Id="R54e72d41ec28466a" /><Relationship Type="http://schemas.openxmlformats.org/officeDocument/2006/relationships/notesMaster" Target="/ppt/notesMasters/notesMaster1.xml" Id="R8575e5d1d28c4728" /><Relationship Type="http://schemas.openxmlformats.org/officeDocument/2006/relationships/presProps" Target="/ppt/presProps.xml" Id="R8165e10317b74227" /><Relationship Type="http://schemas.openxmlformats.org/officeDocument/2006/relationships/tableStyles" Target="/ppt/tableStyles.xml" Id="R169efa2febaf45b7" /><Relationship Type="http://schemas.openxmlformats.org/officeDocument/2006/relationships/slide" Target="/ppt/slides/slide1.xml" Id="R0e723cec137b4831" /><Relationship Type="http://schemas.openxmlformats.org/officeDocument/2006/relationships/slide" Target="/ppt/slides/slide2.xml" Id="R390c36c1d1744016" /><Relationship Type="http://schemas.openxmlformats.org/officeDocument/2006/relationships/slide" Target="/ppt/slides/slide3.xml" Id="Re21993ed44214554" /><Relationship Type="http://schemas.openxmlformats.org/officeDocument/2006/relationships/slide" Target="/ppt/slides/slide4.xml" Id="R7a2338acfa74433e" /><Relationship Type="http://schemas.openxmlformats.org/officeDocument/2006/relationships/slide" Target="/ppt/slides/slide5.xml" Id="Rfd5f394c992f4e39" /><Relationship Type="http://schemas.openxmlformats.org/officeDocument/2006/relationships/slide" Target="/ppt/slides/slide6.xml" Id="R17c140a8155b4568" /><Relationship Type="http://schemas.openxmlformats.org/officeDocument/2006/relationships/slide" Target="/ppt/slides/slide7.xml" Id="Re390bce53cba4f3b" /><Relationship Type="http://schemas.openxmlformats.org/officeDocument/2006/relationships/slide" Target="/ppt/slides/slide8.xml" Id="Rb797b471f8e54e70" /><Relationship Type="http://schemas.openxmlformats.org/officeDocument/2006/relationships/slide" Target="/ppt/slides/slide9.xml" Id="R38da1fe8c4ea4d9a" /><Relationship Type="http://schemas.openxmlformats.org/officeDocument/2006/relationships/slide" Target="/ppt/slides/slide10.xml" Id="Rc33bea73e1f44319" /><Relationship Type="http://schemas.openxmlformats.org/officeDocument/2006/relationships/slide" Target="/ppt/slides/slide11.xml" Id="R717f81c484c5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0116e73296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fa8cf97cc84bdb" /><Relationship Type="http://schemas.openxmlformats.org/officeDocument/2006/relationships/notesMaster" Target="/ppt/notesMasters/notesMaster1.xml" Id="Rcfd9545b99be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f031f5aa94406" /><Relationship Type="http://schemas.openxmlformats.org/officeDocument/2006/relationships/notesMaster" Target="/ppt/notesMasters/notesMaster1.xml" Id="R290b99a043c145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ea21db7254fe5" /><Relationship Type="http://schemas.openxmlformats.org/officeDocument/2006/relationships/notesMaster" Target="/ppt/notesMasters/notesMaster1.xml" Id="R1ec6728ba80f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3000079b640a7" /><Relationship Type="http://schemas.openxmlformats.org/officeDocument/2006/relationships/notesMaster" Target="/ppt/notesMasters/notesMaster1.xml" Id="R73c898b9b98841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92f6bef66f4be5" /><Relationship Type="http://schemas.openxmlformats.org/officeDocument/2006/relationships/notesMaster" Target="/ppt/notesMasters/notesMaster1.xml" Id="R94e1a325df7a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0e19d4c942455b" /><Relationship Type="http://schemas.openxmlformats.org/officeDocument/2006/relationships/notesMaster" Target="/ppt/notesMasters/notesMaster1.xml" Id="R871db8cb92df44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2f21e841114c54" /><Relationship Type="http://schemas.openxmlformats.org/officeDocument/2006/relationships/notesMaster" Target="/ppt/notesMasters/notesMaster1.xml" Id="Rd86ad023d8c54a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8c328a0ce04257" /><Relationship Type="http://schemas.openxmlformats.org/officeDocument/2006/relationships/notesMaster" Target="/ppt/notesMasters/notesMaster1.xml" Id="Rb1949fa73aaf43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9323b7fb74442" /><Relationship Type="http://schemas.openxmlformats.org/officeDocument/2006/relationships/notesMaster" Target="/ppt/notesMasters/notesMaster1.xml" Id="R04cb948b24fd4f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4adb8aff141cb" /><Relationship Type="http://schemas.openxmlformats.org/officeDocument/2006/relationships/notesMaster" Target="/ppt/notesMasters/notesMaster1.xml" Id="R59c9e935e17444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187892bdbf42f7" /><Relationship Type="http://schemas.openxmlformats.org/officeDocument/2006/relationships/notesMaster" Target="/ppt/notesMasters/notesMaster1.xml" Id="Rf7e27a6c2045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submission/REPORT.md, submission/evaluation.json and actual local application screenshots. Synthetic observations only. See submission/DEMO_AND_VIVA.md for presenter details. External Bright Data contract and deployment are not live-verified.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39523cab043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de6477d754b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1f648b1d043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d5d6864744b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e3ad86b9a47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df1b5fef5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4484E2-DD5C-40FF-BA1A-BB34EEE05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ED01AE-665A-46ED-8E96-87F7BFBF7C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A86CC7-8D5A-4593-916A-D2D8AF28C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0EF407-E63F-44C3-AC12-6C3A28A27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E1A88D-8C64-48C4-BF91-B7BFF4981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AAB2FA-CC3A-48D7-9DEF-21070DC5E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CCB7AA-6E06-4CC3-899C-D7267AFEE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889877-ACF2-4B0D-8C84-4B235CE3DF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DB192D-1C55-47F1-B083-08EA9C3F7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80CC46-85B5-4E69-8EE0-A5DD15A7B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aa106009340d6" /><Relationship Type="http://schemas.openxmlformats.org/officeDocument/2006/relationships/slideLayout" Target="/ppt/slideLayouts/slideLayout1.xml" Id="Rda6cad3ec6eb4b75" /><Relationship Type="http://schemas.openxmlformats.org/officeDocument/2006/relationships/slideLayout" Target="/ppt/slideLayouts/slideLayout2.xml" Id="Red9544dda3d8438f" /><Relationship Type="http://schemas.openxmlformats.org/officeDocument/2006/relationships/slideLayout" Target="/ppt/slideLayouts/slideLayout3.xml" Id="R45200bde54a14f6f" /><Relationship Type="http://schemas.openxmlformats.org/officeDocument/2006/relationships/slideLayout" Target="/ppt/slideLayouts/slideLayout4.xml" Id="R89f37b0720c1428e" /><Relationship Type="http://schemas.openxmlformats.org/officeDocument/2006/relationships/slideLayout" Target="/ppt/slideLayouts/slideLayout5.xml" Id="R692a4558a5214d4f" /><Relationship Type="http://schemas.openxmlformats.org/officeDocument/2006/relationships/slideLayout" Target="/ppt/slideLayouts/slideLayout6.xml" Id="R8d350afc9669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cad3ec6eb4b75"/>
    <p:sldLayoutId xmlns:r="http://schemas.openxmlformats.org/officeDocument/2006/relationships" id="2147483650" r:id="Red9544dda3d8438f"/>
    <p:sldLayoutId xmlns:r="http://schemas.openxmlformats.org/officeDocument/2006/relationships" id="2147483651" r:id="R45200bde54a14f6f"/>
    <p:sldLayoutId xmlns:r="http://schemas.openxmlformats.org/officeDocument/2006/relationships" id="2147483652" r:id="R89f37b0720c1428e"/>
    <p:sldLayoutId xmlns:r="http://schemas.openxmlformats.org/officeDocument/2006/relationships" id="2147483653" r:id="R692a4558a5214d4f"/>
    <p:sldLayoutId xmlns:r="http://schemas.openxmlformats.org/officeDocument/2006/relationships" id="2147483654" r:id="R8d350afc9669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a5a330b304a9d" /><Relationship Type="http://schemas.openxmlformats.org/officeDocument/2006/relationships/notesSlide" Target="/ppt/notesSlides/notesSlide1.xml" Id="Rd7125ba51df6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f7274433f43f1" /><Relationship Type="http://schemas.openxmlformats.org/officeDocument/2006/relationships/notesSlide" Target="/ppt/notesSlides/notesSlide2.xml" Id="R6713e17eb4e6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21abaf3a14fb8" /><Relationship Type="http://schemas.openxmlformats.org/officeDocument/2006/relationships/notesSlide" Target="/ppt/notesSlides/notesSlide3.xml" Id="Re9705b7eba264b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1d6485bcc4fa1" /><Relationship Type="http://schemas.openxmlformats.org/officeDocument/2006/relationships/notesSlide" Target="/ppt/notesSlides/notesSlide4.xml" Id="Rbc9814186c6c42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bbfe55e1548db" /><Relationship Type="http://schemas.openxmlformats.org/officeDocument/2006/relationships/notesSlide" Target="/ppt/notesSlides/notesSlide5.xml" Id="R586dfefaf2eb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17d2d05b3469e" /><Relationship Type="http://schemas.openxmlformats.org/officeDocument/2006/relationships/image" Target="/ppt/media/image.png" Id="Rc7f6e6a2e12946b2" /><Relationship Type="http://schemas.openxmlformats.org/officeDocument/2006/relationships/notesSlide" Target="/ppt/notesSlides/notesSlide6.xml" Id="Rf5550eb4146446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7754133ca4119" /><Relationship Type="http://schemas.openxmlformats.org/officeDocument/2006/relationships/notesSlide" Target="/ppt/notesSlides/notesSlide7.xml" Id="Rf0190eb9f248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e9087d33746fa" /><Relationship Type="http://schemas.openxmlformats.org/officeDocument/2006/relationships/notesSlide" Target="/ppt/notesSlides/notesSlide8.xml" Id="Rb9c0644dd91e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b5d2188704757" /><Relationship Type="http://schemas.openxmlformats.org/officeDocument/2006/relationships/notesSlide" Target="/ppt/notesSlides/notesSlide9.xml" Id="R62ab3b32f6994a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bef05f55e4600" /><Relationship Type="http://schemas.openxmlformats.org/officeDocument/2006/relationships/notesSlide" Target="/ppt/notesSlides/notesSlide10.xml" Id="Rb9bf0fd7efe54e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195270dec4653" /><Relationship Type="http://schemas.openxmlformats.org/officeDocument/2006/relationships/notesSlide" Target="/ppt/notesSlides/notesSlide11.xml" Id="R311783ee9b88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75FE5-1AE5-43FB-8DAB-0DB04DD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MarketLens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81688-F7F7-4D5D-AD10-E1FA65E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84FFB-A394-4033-BA99-567E3898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Explainable marketplace intelligence</a:t>
            </a:r>
          </a:p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and historical price auditing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2B102-C7DC-4C87-A945-719A648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[Student names]  ·  [Institution]  ·  [Supervisor]</a:t>
            </a:r>
          </a:p>
        </p:txBody>
      </p:sp>
    </p:spTree>
    <p:extLst>
      <p:ext uri="{BB962C8B-B14F-4D97-AF65-F5344CB8AC3E}">
        <p14:creationId xmlns:p14="http://schemas.microsoft.com/office/powerpoint/2010/main" val="401787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F2301-D41D-4F12-A17B-D413534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The problem: a discount is not a historical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F004A-8814-49CA-9E4A-0A480BCE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28B65-66BF-4BBA-A2B3-C5396519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E3AC-D395-4430-B970-7836DC07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E52A-C925-44D1-87F1-D1B966F4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Reference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A8F55-4EDE-4EBD-BB2D-416D8E4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An advertised percentage compares two displayed prices. It does not establish the usual observed price.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076E3-7153-41C2-88E1-89ADD646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Historical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01E19-6D68-4336-96E5-4C91537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Seller, shipping, availability and promotion evidence can change. A single snapshot cannot recreate missing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5FC8D-B544-4C8E-9CB0-DA1C72B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C16CE-F7F4-4FC0-B5AA-5B71EC75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Make comparisons inspectable, preserve uncertainty, and abstain when the evidence is insufficient.</a:t>
            </a:r>
          </a:p>
        </p:txBody>
      </p:sp>
    </p:spTree>
    <p:extLst>
      <p:ext uri="{BB962C8B-B14F-4D97-AF65-F5344CB8AC3E}">
        <p14:creationId xmlns:p14="http://schemas.microsoft.com/office/powerpoint/2010/main" val="558424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A7CEE-AF5A-49B6-9170-93007C1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One evidence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0A3BD-0CBA-4D76-ABF9-376D5A2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3E7FC-B3F7-4265-B2CA-F2693B39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97E9-370D-4D5A-93C4-AE39D5F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A26B-5B82-4ABF-BBC7-9E61866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7E55F-19C3-4A6A-B6AD-BBAEF04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Collect / import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C734-B595-4138-9B55-7FD5D004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812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7105-E2D6-4BA9-B363-A4B8D5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90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EFACE-6615-4442-A58F-E52748C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48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Preserve raw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01947-17C9-40EB-8422-70EC46F7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6DDE3-4B59-46B9-88CB-F3A17FE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58D82-1276-4380-A981-3359FCE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45F4A-8903-408B-9301-2A37E92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812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540EF-77AD-489D-818A-C0C3C5C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90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6FE1F-7984-455F-AA14-56AC532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48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51F27-4BFA-4236-A8A3-6AD7524E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9636-AB16-46FB-85FC-D46E5162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A838E-CA84-48B1-BBAC-92889200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55358-E13A-4233-8F95-E4D0DAB3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Every analysis retains its cutoff, source observations, mode and version.</a:t>
            </a:r>
          </a:p>
        </p:txBody>
      </p:sp>
    </p:spTree>
    <p:extLst>
      <p:ext uri="{BB962C8B-B14F-4D97-AF65-F5344CB8AC3E}">
        <p14:creationId xmlns:p14="http://schemas.microsoft.com/office/powerpoint/2010/main" val="1374460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C48D7-5D3D-468D-A261-C2DBA3E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Full-stack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3F1DF-8446-4FC5-8678-B3DC6040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325E-3C62-46DF-B8B8-F702C6F5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BE06E-CB3C-4380-95B5-56468EFF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0C85E-4103-45A8-986D-371FEC6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47BDD-E391-4AD7-A090-8B0DE0A0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React + TypeScript, TanStack Query and ECharts with exact-value table alternatives.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87341-3FC8-439E-9B1B-10ECB29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API and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301DA-7917-498D-A939-F34577E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FastAPI and MongoDB. Separate demo, imported and live databases; immutable observations.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7B75C-BFF4-4E07-947F-710CC4DC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Separate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C7C7E-1E87-43DF-A7E2-E090E042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Durable job leases, collection polling, analysis recalculation and watch-condition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789791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F6932-6782-4649-A5FA-A5A5A41D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A transparent historical discount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7D045-7DEB-46A9-A7E4-31F8EEE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3C595-86F7-4219-975B-331ADA63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2853F-942D-4EB9-9F5D-BBAF9B6B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9CD3F-506E-422B-8DD0-EFCD65B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100 × (baseline − current) /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446A7-72BF-4183-8445-6F2F2410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Baseline: median of daily comparable prices in the preceding window.</a:t>
            </a:r>
          </a:p>
          <a:p xmlns:a="http://schemas.openxmlformats.org/drawingml/2006/main">
            <a:pPr>
              <a:defRPr sz="19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Exclude the current day; require at least 14 days and 60%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5DAB2-A925-42E9-8A7E-9570208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AD6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AD6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AD6B5"/>
                </a:solidFill>
                <a:latin typeface="Arial"/>
                <a:ea typeface="Arial"/>
                <a:cs typeface="Arial"/>
              </a:rPr>
              <a:t>60% historical savings   +   25% price position   +   15% claim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66B3B-B986-4B8C-B7A4-4D72F1F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A versioned heuristic, not a probability of honesty</a:t>
            </a:r>
          </a:p>
        </p:txBody>
      </p:sp>
    </p:spTree>
    <p:extLst>
      <p:ext uri="{BB962C8B-B14F-4D97-AF65-F5344CB8AC3E}">
        <p14:creationId xmlns:p14="http://schemas.microsoft.com/office/powerpoint/2010/main" val="1426466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5EE62-C6BA-446E-80CF-E1581C6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Time Machine preserves the observed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93D33-A327-4A34-9717-358EFCCD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3D58F-CDB3-4C30-A598-F9BAA01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1B1A9-EDF1-41B7-BAF0-D09C02DA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CF15-7B1F-4FE2-8116-4F0946361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6e6a2e12946b2"/>
          <a:stretch xmlns:a="http://schemas.openxmlformats.org/drawingml/2006/main"/>
        </p:blipFill>
        <p:spPr>
          <a:xfrm xmlns:a="http://schemas.openxmlformats.org/drawingml/2006/main">
            <a:off x="2327012" y="1714500"/>
            <a:ext cx="394705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E01F6-A235-48A3-8EC9-5050DD9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At or before</a:t>
            </a:r>
          </a:p>
          <a:p xmlns:a="http://schemas.openxmlformats.org/drawingml/2006/main">
            <a:pPr>
              <a:defRPr sz="22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the requested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B7512-E08C-4490-B016-7109D8C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8137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Actual capture time</a:t>
            </a:r>
          </a:p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Changed fields</a:t>
            </a:r>
          </a:p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Historical metadata</a:t>
            </a:r>
          </a:p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Raw source evidence</a:t>
            </a:r>
          </a:p>
        </p:txBody>
      </p:sp>
    </p:spTree>
    <p:extLst>
      <p:ext uri="{BB962C8B-B14F-4D97-AF65-F5344CB8AC3E}">
        <p14:creationId xmlns:p14="http://schemas.microsoft.com/office/powerpoint/2010/main" val="421438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28D8C-6330-4D2A-8A9B-D9A5944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Seller patterns require alternative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57312-6153-4671-8E90-65E8F2B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CAB00-C865-4C38-AC37-F3DB2F8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02950-412C-4873-B5C2-2D14EDA0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90869-E532-4571-80C9-E45B37D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Eligibility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94812-846A-420B-A605-14252D14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Identified offers, consecutive observed days, enough overlap and enough nonzero price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D36B0-DE7E-4E78-BAB9-FC315AC8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AE57F-71D3-44B1-B427-C48289B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Return correlation, same-direction changes, shuffled null comparison and pair-count adjustment.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CBE0E-98C0-4CA4-B0BC-F1E86B95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83410-B0F7-4934-BBD8-750F68C6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Other sellers help explain common movement. Demand and seasonality remain uncontrolled. No collusion claim.</a:t>
            </a:r>
          </a:p>
        </p:txBody>
      </p:sp>
    </p:spTree>
    <p:extLst>
      <p:ext uri="{BB962C8B-B14F-4D97-AF65-F5344CB8AC3E}">
        <p14:creationId xmlns:p14="http://schemas.microsoft.com/office/powerpoint/2010/main" val="303221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99B9E-2290-48A8-9646-BD7C7C9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Historical analogs and forecasts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2EDBC-7778-4E2C-852C-C8912211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AEAF-3FF2-4296-8D70-3CC008BF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AF8F2-421C-4ABE-A5CF-DF8C3A4F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E2810-A8C6-46CE-BD00-93D69E83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Future Price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8CB55-B795-4861-B00F-F46AFD2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04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Retrieve similar past price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Only completed outcome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Report match counts and observed</a:t>
            </a:r>
          </a:p>
          <a:p xmlns:a="http://schemas.openxmlformats.org/drawingml/2006/main">
            <a:pPr>
              <a:defRPr sz="202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1 / 3 / 7 / 14-day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84983-F1C1-4176-9A77-B6538D7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AD6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AD6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AD6B5"/>
                </a:solidFill>
                <a:latin typeface="Arial"/>
                <a:ea typeface="Arial"/>
                <a:cs typeface="Arial"/>
              </a:rPr>
              <a:t>Price 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E979-0DC1-43D4-BD4B-38099A3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Compare persistence, moving average,</a:t>
            </a:r>
          </a:p>
          <a:p xmlns:a="http://schemas.openxmlformats.org/drawingml/2006/main">
            <a:pPr>
              <a:defRPr sz="187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smoothing and eligible seasonal naive.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Chronological model selection and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Report MAE and measured interval coverage.</a:t>
            </a:r>
          </a:p>
        </p:txBody>
      </p:sp>
    </p:spTree>
    <p:extLst>
      <p:ext uri="{BB962C8B-B14F-4D97-AF65-F5344CB8AC3E}">
        <p14:creationId xmlns:p14="http://schemas.microsoft.com/office/powerpoint/2010/main" val="1907898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C921-5BDF-4F73-8C92-33E1B040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Measured synthetic scenario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39A16-5CBB-4192-A54E-624B55D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41560-C047-46AB-AA0E-9B87688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CF872-00D4-41C4-B2FF-639F0EDF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73D44-8248-4BE8-946C-5B856DC8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Genuine discount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3F1D-28F0-44AB-BFA6-BA98E1E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Score 86; historical savings about 27.67% in the seeded headphone scenario.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3ED68-82C9-4084-A00A-6AE963D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Seller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9045-8F2D-4140-8866-FB1FE46D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861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One flagged pair for unusual synchronization; zero pairs flagged for broad common movement.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76D92-B579-41FF-B2CE-2EAE2EE5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Forecast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E1DFB-2A13-4E86-B726-DF1817A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The genuine-discount example has 66.7% held-out interval coverage across 12 origins. Regime changes matter.</a:t>
            </a:r>
          </a:p>
        </p:txBody>
      </p:sp>
    </p:spTree>
    <p:extLst>
      <p:ext uri="{BB962C8B-B14F-4D97-AF65-F5344CB8AC3E}">
        <p14:creationId xmlns:p14="http://schemas.microsoft.com/office/powerpoint/2010/main" val="933026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CDF3E-D22E-4CF5-A46C-C3F1A0AE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Verification and honest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C72C7-AC93-4A2A-B01A-C5E6CE67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141EC-9DFF-404C-B23D-5A6D1697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95AE5-96C4-4B9B-8DFE-1D77F2C5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F16F9-AB04-4BE8-99F1-693EC8E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48698-AE9D-457F-8F65-CCBDB12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Real MongoDB integration, API ownership and CSRF, browser product journeys, watch persistence and worker alerts.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00E6-21F4-4C5E-B1BF-3677564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Reproducible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C852F-339E-4C64-BD76-2553046C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8612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36 products, 7,818 synthetic observations, source code, Docker configuration, evaluation JSON and actual screenshots.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78564-6660-4CDF-95E5-AD3C1166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External 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D8E79-00CE-4477-9489-F8FA69A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Original snapshot absent. Bright Data fixtures are not live verification. No email or public deployment claimed.</a:t>
            </a:r>
          </a:p>
        </p:txBody>
      </p:sp>
    </p:spTree>
    <p:extLst>
      <p:ext uri="{BB962C8B-B14F-4D97-AF65-F5344CB8AC3E}">
        <p14:creationId xmlns:p14="http://schemas.microsoft.com/office/powerpoint/2010/main" val="258032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EF209-C4D2-495F-A6FD-5273AE94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F0FA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A865F-DEFE-4C2F-BB2A-B816BF29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9F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2EC76-84A3-4116-9CB7-16BFAB77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MarketLens AI  |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5E2C7-E366-4124-871A-940C9EF3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4B7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7C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B3C95-7992-49CF-B9F9-0C3B8DF2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1   Explore a product and explain its discount</a:t>
            </a:r>
          </a:p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2   Compare historical captures and inspect evidence</a:t>
            </a:r>
          </a:p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3   Review seller patterns and completed analogs</a:t>
            </a:r>
          </a:p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4   Read forecast uncertainty and the advisor</a:t>
            </a:r>
          </a:p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5   Save a target watch and inspect the worker alert</a:t>
            </a:r>
          </a:p>
          <a:p xmlns:a="http://schemas.openxmlformats.org/drawingml/2006/main">
            <a:pPr>
              <a:defRPr sz="2250" b="0">
                <a:solidFill>
                  <a:srgbClr val="E8F0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F0FA"/>
                </a:solidFill>
                <a:latin typeface="Arial"/>
                <a:ea typeface="Arial"/>
                <a:cs typeface="Arial"/>
              </a:rPr>
              <a:t>6   Show an insufficient-history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762A2-F554-4FCF-83C7-0C21179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3B9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B9F3"/>
                </a:solidFill>
                <a:latin typeface="Arial"/>
                <a:ea typeface="Arial"/>
                <a:cs typeface="Arial"/>
              </a:rPr>
              <a:t>Start locally: docker compose up --build -d</a:t>
            </a:r>
          </a:p>
        </p:txBody>
      </p:sp>
    </p:spTree>
    <p:extLst>
      <p:ext uri="{BB962C8B-B14F-4D97-AF65-F5344CB8AC3E}">
        <p14:creationId xmlns:p14="http://schemas.microsoft.com/office/powerpoint/2010/main" val="2886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2026-10-14T18:59:47.2970000Z</dcterms:created>
  <dcterms:modified xsi:type="dcterms:W3CDTF">2026-10-14T18:59:47.2970000Z</dcterms:modified>
</coreProperties>
</file>